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796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hyperlink" Target="https://youtu.be/CiMaWbz_6E8?si=DlLSAmiYJqOuL-h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ater.net/8bit/alu" TargetMode="Externa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1005840"/>
            <a:ext cx="1280160" cy="0"/>
          </a:xfrm>
          <a:prstGeom prst="line">
            <a:avLst/>
          </a:prstGeom>
          <a:noFill/>
          <a:ln w="19050">
            <a:solidFill>
              <a:srgbClr val="2FB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1005840"/>
            <a:ext cx="0" cy="1188720"/>
          </a:xfrm>
          <a:prstGeom prst="line">
            <a:avLst/>
          </a:prstGeom>
          <a:noFill/>
          <a:ln w="19050">
            <a:solidFill>
              <a:srgbClr val="2FB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2743200"/>
            <a:ext cx="2194560" cy="0"/>
          </a:xfrm>
          <a:prstGeom prst="line">
            <a:avLst/>
          </a:prstGeom>
          <a:noFill/>
          <a:ln w="1905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2743200"/>
            <a:ext cx="0" cy="1463040"/>
          </a:xfrm>
          <a:prstGeom prst="line">
            <a:avLst/>
          </a:prstGeom>
          <a:noFill/>
          <a:ln w="1905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0" y="4937760"/>
            <a:ext cx="2377440" cy="0"/>
          </a:xfrm>
          <a:prstGeom prst="line">
            <a:avLst/>
          </a:prstGeom>
          <a:noFill/>
          <a:ln w="19050">
            <a:solidFill>
              <a:srgbClr val="2FB6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4937760"/>
            <a:ext cx="0" cy="1097280"/>
          </a:xfrm>
          <a:prstGeom prst="line">
            <a:avLst/>
          </a:prstGeom>
          <a:noFill/>
          <a:ln w="19050">
            <a:solidFill>
              <a:srgbClr val="2FB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11412" y="964692"/>
            <a:ext cx="82296" cy="8229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0" name="Shape 8"/>
          <p:cNvSpPr/>
          <p:nvPr/>
        </p:nvSpPr>
        <p:spPr>
          <a:xfrm>
            <a:off x="10291572" y="964692"/>
            <a:ext cx="82296" cy="8229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1572" y="2153412"/>
            <a:ext cx="82296" cy="8229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377172" y="2702052"/>
            <a:ext cx="82296" cy="8229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71732" y="4165092"/>
            <a:ext cx="82296" cy="8229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4" name="Shape 12"/>
          <p:cNvSpPr/>
          <p:nvPr/>
        </p:nvSpPr>
        <p:spPr>
          <a:xfrm>
            <a:off x="9011412" y="4896612"/>
            <a:ext cx="82296" cy="8229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88852" y="4896612"/>
            <a:ext cx="82296" cy="8229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48772" y="5993892"/>
            <a:ext cx="82296" cy="8229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0" y="448056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0E2547"/>
          </a:solidFill>
          <a:ln w="12700">
            <a:solidFill>
              <a:srgbClr val="2FB6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10928" y="4343400"/>
            <a:ext cx="73152" cy="146304"/>
          </a:xfrm>
          <a:prstGeom prst="rect">
            <a:avLst/>
          </a:prstGeom>
          <a:solidFill>
            <a:srgbClr val="2FB6A6"/>
          </a:solidFill>
          <a:ln/>
        </p:spPr>
      </p:sp>
      <p:sp>
        <p:nvSpPr>
          <p:cNvPr id="19" name="Shape 17"/>
          <p:cNvSpPr/>
          <p:nvPr/>
        </p:nvSpPr>
        <p:spPr>
          <a:xfrm>
            <a:off x="9710928" y="5294376"/>
            <a:ext cx="73152" cy="146304"/>
          </a:xfrm>
          <a:prstGeom prst="rect">
            <a:avLst/>
          </a:prstGeom>
          <a:solidFill>
            <a:srgbClr val="2FB6A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40112" y="4343400"/>
            <a:ext cx="73152" cy="146304"/>
          </a:xfrm>
          <a:prstGeom prst="rect">
            <a:avLst/>
          </a:prstGeom>
          <a:solidFill>
            <a:srgbClr val="2FB6A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40112" y="5294376"/>
            <a:ext cx="73152" cy="146304"/>
          </a:xfrm>
          <a:prstGeom prst="rect">
            <a:avLst/>
          </a:prstGeom>
          <a:solidFill>
            <a:srgbClr val="2FB6A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69296" y="4343400"/>
            <a:ext cx="73152" cy="146304"/>
          </a:xfrm>
          <a:prstGeom prst="rect">
            <a:avLst/>
          </a:prstGeom>
          <a:solidFill>
            <a:srgbClr val="2FB6A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69296" y="5294376"/>
            <a:ext cx="73152" cy="146304"/>
          </a:xfrm>
          <a:prstGeom prst="rect">
            <a:avLst/>
          </a:prstGeom>
          <a:solidFill>
            <a:srgbClr val="2FB6A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98480" y="4343400"/>
            <a:ext cx="73152" cy="146304"/>
          </a:xfrm>
          <a:prstGeom prst="rect">
            <a:avLst/>
          </a:prstGeom>
          <a:solidFill>
            <a:srgbClr val="2FB6A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98480" y="5294376"/>
            <a:ext cx="73152" cy="146304"/>
          </a:xfrm>
          <a:prstGeom prst="rect">
            <a:avLst/>
          </a:prstGeom>
          <a:solidFill>
            <a:srgbClr val="2FB6A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BIT-MECHANIX  ·  HARDWARE PROJECT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14173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ALU-FORGE '26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640080" y="26974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an 8-bit Arithmetic Logic Unit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" y="312724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Registers, a Common Bus, Clock Timing and Discrete Digital ICs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" y="3794760"/>
            <a:ext cx="50292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" y="4434840"/>
            <a:ext cx="82296" cy="8229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Mukesh 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58368" y="4855464"/>
            <a:ext cx="82296" cy="8229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7183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Harikrishnan R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8368" y="5276088"/>
            <a:ext cx="82296" cy="8229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5138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Deshni A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&amp;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454335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6" name="Shape 4"/>
          <p:cNvSpPr/>
          <p:nvPr/>
        </p:nvSpPr>
        <p:spPr>
          <a:xfrm>
            <a:off x="10618927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7" name="Shape 5"/>
          <p:cNvSpPr/>
          <p:nvPr/>
        </p:nvSpPr>
        <p:spPr>
          <a:xfrm>
            <a:off x="10783519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Shape 6"/>
          <p:cNvSpPr/>
          <p:nvPr/>
        </p:nvSpPr>
        <p:spPr>
          <a:xfrm>
            <a:off x="10948111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Shape 7"/>
          <p:cNvSpPr/>
          <p:nvPr/>
        </p:nvSpPr>
        <p:spPr>
          <a:xfrm>
            <a:off x="11112703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5212080" cy="4937760"/>
          </a:xfrm>
          <a:prstGeom prst="roundRect">
            <a:avLst>
              <a:gd name="adj" fmla="val 1481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E3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16642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22860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an 8-bit Arithmetic Logic Unit using discrete digital logic ICs and a shared 8-bit bus architecture.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30632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Operands set via DIP switches are sequentially loaded into Registers A and B using push-button controls and a 1 Hz clock source.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384048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operands are processed through an 8-bit adder/subtractor circuit — addition or subtraction is determined by the carry-in control of the first adder stage.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68680" y="5212080"/>
            <a:ext cx="4526280" cy="822960"/>
          </a:xfrm>
          <a:prstGeom prst="roundRect">
            <a:avLst>
              <a:gd name="adj" fmla="val 6667"/>
            </a:avLst>
          </a:prstGeom>
          <a:solidFill>
            <a:srgbClr val="0B1E3D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2120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Bit-Mechanix    </a:t>
            </a: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Track: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Hardware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035040" y="19659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1938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Arithmetic Processing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22585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an 8-bit ALU to perform addition and subtraction.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30449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B6A6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3044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0" y="3017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Data Transfer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333756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A/B registers and a common 8-bit bus with 74HC245 transceiver control for bidirectional routing.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41239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3680" y="40965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Input Interface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4416552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 switches for operand input, push buttons for register/bus control, and a 1 Hz clock for step-by-step observation.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35040" y="52029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B6A6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5202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583680" y="51755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Demonstration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5495544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continuous arithmetic and register-transfer operations at the hardware level.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· BUS · ARITHMETIC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454335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6" name="Shape 4"/>
          <p:cNvSpPr/>
          <p:nvPr/>
        </p:nvSpPr>
        <p:spPr>
          <a:xfrm>
            <a:off x="10618927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7" name="Shape 5"/>
          <p:cNvSpPr/>
          <p:nvPr/>
        </p:nvSpPr>
        <p:spPr>
          <a:xfrm>
            <a:off x="10783519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Shape 6"/>
          <p:cNvSpPr/>
          <p:nvPr/>
        </p:nvSpPr>
        <p:spPr>
          <a:xfrm>
            <a:off x="10948111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Shape 7"/>
          <p:cNvSpPr/>
          <p:nvPr/>
        </p:nvSpPr>
        <p:spPr>
          <a:xfrm>
            <a:off x="11112703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71600"/>
            <a:ext cx="4572000" cy="4937760"/>
          </a:xfrm>
          <a:prstGeom prst="roundRect">
            <a:avLst>
              <a:gd name="adj" fmla="val 1600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00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moves through the system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2130552"/>
            <a:ext cx="201168" cy="20116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305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2048256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8-bit value selected on the DIP switches is placed on the common bus.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2907792"/>
            <a:ext cx="201168" cy="201168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077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70432" y="2825496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A-register enable signal fires, the bus value is captured by Register A on the next clock event — Register B loads the same way.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685032"/>
            <a:ext cx="201168" cy="20116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6850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70432" y="3602736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register outputs feed the arithmetic section, which adds or subtracts based on the selected control condition.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462272"/>
            <a:ext cx="201168" cy="201168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4622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70432" y="4379976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A-register output and 74HC245 transceiver give controlled access back onto the bus, so results can be transferred through the shared data path.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49240" y="1371600"/>
            <a:ext cx="6309360" cy="4937760"/>
          </a:xfrm>
          <a:prstGeom prst="roundRect">
            <a:avLst>
              <a:gd name="adj" fmla="val 1481"/>
            </a:avLst>
          </a:prstGeom>
          <a:solidFill>
            <a:srgbClr val="132A52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15361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1100" dirty="0"/>
          </a:p>
        </p:txBody>
      </p:sp>
      <p:pic>
        <p:nvPicPr>
          <p:cNvPr id="26" name="Image 0" descr="/home/claude/work/block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23560" y="1874520"/>
            <a:ext cx="5760720" cy="41605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Designed Circuit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BREADBOARD BUILD — END-TO-END SIGNAL PATH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454335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6" name="Shape 4"/>
          <p:cNvSpPr/>
          <p:nvPr/>
        </p:nvSpPr>
        <p:spPr>
          <a:xfrm>
            <a:off x="10618927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7" name="Shape 5"/>
          <p:cNvSpPr/>
          <p:nvPr/>
        </p:nvSpPr>
        <p:spPr>
          <a:xfrm>
            <a:off x="10783519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Shape 6"/>
          <p:cNvSpPr/>
          <p:nvPr/>
        </p:nvSpPr>
        <p:spPr>
          <a:xfrm>
            <a:off x="10948111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Shape 7"/>
          <p:cNvSpPr/>
          <p:nvPr/>
        </p:nvSpPr>
        <p:spPr>
          <a:xfrm>
            <a:off x="11112703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325880"/>
            <a:ext cx="7360920" cy="3310128"/>
          </a:xfrm>
          <a:prstGeom prst="roundRect">
            <a:avLst>
              <a:gd name="adj" fmla="val 1657"/>
            </a:avLst>
          </a:prstGeom>
          <a:solidFill>
            <a:srgbClr val="132A52"/>
          </a:solidFill>
          <a:ln/>
        </p:spPr>
      </p:sp>
      <p:pic>
        <p:nvPicPr>
          <p:cNvPr id="11" name="Image 0" descr="/home/claude/work/images/img-044-ro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435608"/>
            <a:ext cx="7141464" cy="30906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4709160"/>
            <a:ext cx="7360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interlinked breadboards: DIP-switch input, A/B registers, ALU core, bus transceiver, clock, and AND/OR logic blocks.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2440" y="1325880"/>
            <a:ext cx="3566160" cy="4983480"/>
          </a:xfrm>
          <a:prstGeom prst="roundRect">
            <a:avLst>
              <a:gd name="adj" fmla="val 2051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14813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Procedure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321040" y="19385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16" name="Text 13"/>
          <p:cNvSpPr/>
          <p:nvPr/>
        </p:nvSpPr>
        <p:spPr>
          <a:xfrm>
            <a:off x="8321040" y="1938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32520" y="1883664"/>
            <a:ext cx="2880360" cy="489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 —  </a:t>
            </a: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DIP switches, place value on bus, enable A-Register, clock it in.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321040" y="242773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FB6A6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24277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732520" y="2372868"/>
            <a:ext cx="2880360" cy="489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 —  </a:t>
            </a: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captures the bus value and retains it after switches change.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321040" y="29169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8321040" y="2916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732520" y="2862072"/>
            <a:ext cx="2880360" cy="489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Store B  —  </a:t>
            </a: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DIP switches to operand 2, place on bus, enable B-Register.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321040" y="34061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FB6A6"/>
          </a:solidFill>
          <a:ln/>
        </p:spPr>
      </p:sp>
      <p:sp>
        <p:nvSpPr>
          <p:cNvPr id="25" name="Text 22"/>
          <p:cNvSpPr/>
          <p:nvPr/>
        </p:nvSpPr>
        <p:spPr>
          <a:xfrm>
            <a:off x="8321040" y="34061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732520" y="3351276"/>
            <a:ext cx="2880360" cy="489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Operation  —  </a:t>
            </a: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operation-control / carry-in for addition or subtraction.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321040" y="389534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8321040" y="38953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732520" y="3840480"/>
            <a:ext cx="2880360" cy="489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Result  —  </a:t>
            </a: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adder stages process both operands into an 8-bit result.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321040" y="43845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FB6A6"/>
          </a:solidFill>
          <a:ln/>
        </p:spPr>
      </p:sp>
      <p:sp>
        <p:nvSpPr>
          <p:cNvPr id="31" name="Text 28"/>
          <p:cNvSpPr/>
          <p:nvPr/>
        </p:nvSpPr>
        <p:spPr>
          <a:xfrm>
            <a:off x="8321040" y="43845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732520" y="4329684"/>
            <a:ext cx="2880360" cy="489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Result  —  </a:t>
            </a: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Bus/transceiver and register controls reuse or move the result.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· COMMON BUS · ALU · CLOCK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454335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6" name="Shape 4"/>
          <p:cNvSpPr/>
          <p:nvPr/>
        </p:nvSpPr>
        <p:spPr>
          <a:xfrm>
            <a:off x="10618927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7" name="Shape 5"/>
          <p:cNvSpPr/>
          <p:nvPr/>
        </p:nvSpPr>
        <p:spPr>
          <a:xfrm>
            <a:off x="10783519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Shape 6"/>
          <p:cNvSpPr/>
          <p:nvPr/>
        </p:nvSpPr>
        <p:spPr>
          <a:xfrm>
            <a:off x="10948111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Shape 7"/>
          <p:cNvSpPr/>
          <p:nvPr/>
        </p:nvSpPr>
        <p:spPr>
          <a:xfrm>
            <a:off x="11112703" y="4572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0" name="Shape 8"/>
          <p:cNvSpPr/>
          <p:nvPr/>
        </p:nvSpPr>
        <p:spPr>
          <a:xfrm>
            <a:off x="2184935" y="1284732"/>
            <a:ext cx="2212848" cy="2331720"/>
          </a:xfrm>
          <a:prstGeom prst="roundRect">
            <a:avLst>
              <a:gd name="adj" fmla="val 2893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11" name="Image 0" descr="/home/claude/work/images/img-04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76375" y="1376172"/>
            <a:ext cx="2029968" cy="10515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276375" y="2510028"/>
            <a:ext cx="32004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276375" y="257403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A-Register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276375" y="285750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74173 ×2 · stores operand 1, doubles as the accumulator for results.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5870785" y="1289304"/>
            <a:ext cx="2212848" cy="2331720"/>
          </a:xfrm>
          <a:prstGeom prst="roundRect">
            <a:avLst>
              <a:gd name="adj" fmla="val 2893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16" name="Image 1" descr="/home/claude/work/images/img-046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62225" y="1380744"/>
            <a:ext cx="2029968" cy="10515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962225" y="2514600"/>
            <a:ext cx="320040" cy="41148"/>
          </a:xfrm>
          <a:prstGeom prst="rect">
            <a:avLst/>
          </a:prstGeom>
          <a:solidFill>
            <a:srgbClr val="2FB6A6"/>
          </a:solidFill>
          <a:ln/>
        </p:spPr>
      </p:sp>
      <p:sp>
        <p:nvSpPr>
          <p:cNvPr id="18" name="Text 14"/>
          <p:cNvSpPr/>
          <p:nvPr/>
        </p:nvSpPr>
        <p:spPr>
          <a:xfrm>
            <a:off x="5962225" y="257860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B-Register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962225" y="2862072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74173 ×2 · stores operand 2 from the same shared bus, own enable line.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9798229" y="1284732"/>
            <a:ext cx="2212848" cy="2331720"/>
          </a:xfrm>
          <a:prstGeom prst="roundRect">
            <a:avLst>
              <a:gd name="adj" fmla="val 2893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21" name="Image 2" descr="/home/claude/work/images/img-047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889669" y="1376172"/>
            <a:ext cx="2029968" cy="105156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889669" y="2510028"/>
            <a:ext cx="32004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3" name="Text 18"/>
          <p:cNvSpPr/>
          <p:nvPr/>
        </p:nvSpPr>
        <p:spPr>
          <a:xfrm>
            <a:off x="9889669" y="257403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8-bit Bus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9889669" y="285750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 switches write; 74HC245 controls read/write — avoids bus contention.</a:t>
            </a:r>
            <a:endParaRPr lang="en-US" sz="930" dirty="0"/>
          </a:p>
        </p:txBody>
      </p:sp>
      <p:sp>
        <p:nvSpPr>
          <p:cNvPr id="25" name="Shape 20"/>
          <p:cNvSpPr/>
          <p:nvPr/>
        </p:nvSpPr>
        <p:spPr>
          <a:xfrm>
            <a:off x="340094" y="3834865"/>
            <a:ext cx="2212848" cy="2331720"/>
          </a:xfrm>
          <a:prstGeom prst="roundRect">
            <a:avLst>
              <a:gd name="adj" fmla="val 2893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26" name="Image 3" descr="/home/claude/work/images/img-048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1534" y="3926305"/>
            <a:ext cx="2029968" cy="105156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31534" y="5060161"/>
            <a:ext cx="320040" cy="41148"/>
          </a:xfrm>
          <a:prstGeom prst="rect">
            <a:avLst/>
          </a:prstGeom>
          <a:solidFill>
            <a:srgbClr val="2FB6A6"/>
          </a:solidFill>
          <a:ln/>
        </p:spPr>
      </p:sp>
      <p:sp>
        <p:nvSpPr>
          <p:cNvPr id="28" name="Text 22"/>
          <p:cNvSpPr/>
          <p:nvPr/>
        </p:nvSpPr>
        <p:spPr>
          <a:xfrm>
            <a:off x="431534" y="5124169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Unit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31534" y="5407633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74008 &amp; 74286 · Cin=0 → A+B addition, Cin=1 → A−B via 2's complement.</a:t>
            </a:r>
            <a:endParaRPr lang="en-US" sz="930" dirty="0"/>
          </a:p>
        </p:txBody>
      </p:sp>
      <p:sp>
        <p:nvSpPr>
          <p:cNvPr id="30" name="Shape 24"/>
          <p:cNvSpPr/>
          <p:nvPr/>
        </p:nvSpPr>
        <p:spPr>
          <a:xfrm>
            <a:off x="4033306" y="3831336"/>
            <a:ext cx="2212848" cy="2331720"/>
          </a:xfrm>
          <a:prstGeom prst="roundRect">
            <a:avLst>
              <a:gd name="adj" fmla="val 2893"/>
            </a:avLst>
          </a:prstGeom>
          <a:solidFill>
            <a:srgbClr val="F4F7FB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31" name="Image 4" descr="/home/claude/work/images/img-049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24746" y="3922776"/>
            <a:ext cx="2029968" cy="105156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124746" y="5056632"/>
            <a:ext cx="32004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3" name="Text 26"/>
          <p:cNvSpPr/>
          <p:nvPr/>
        </p:nvSpPr>
        <p:spPr>
          <a:xfrm>
            <a:off x="4124746" y="51206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Hz Clock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4124746" y="5404104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555 timer · paces register loads so data movement is visible step-by-step.</a:t>
            </a:r>
            <a:endParaRPr lang="en-US" sz="930" dirty="0"/>
          </a:p>
        </p:txBody>
      </p:sp>
      <p:sp>
        <p:nvSpPr>
          <p:cNvPr id="35" name="Shape 28"/>
          <p:cNvSpPr/>
          <p:nvPr/>
        </p:nvSpPr>
        <p:spPr>
          <a:xfrm>
            <a:off x="7882128" y="3856482"/>
            <a:ext cx="2212848" cy="2331720"/>
          </a:xfrm>
          <a:prstGeom prst="roundRect">
            <a:avLst>
              <a:gd name="adj" fmla="val 2893"/>
            </a:avLst>
          </a:prstGeom>
          <a:solidFill>
            <a:srgbClr val="0B1E3D"/>
          </a:solidFill>
          <a:ln/>
        </p:spPr>
      </p:sp>
      <p:sp>
        <p:nvSpPr>
          <p:cNvPr id="36" name="Text 29"/>
          <p:cNvSpPr/>
          <p:nvPr/>
        </p:nvSpPr>
        <p:spPr>
          <a:xfrm>
            <a:off x="8046720" y="403936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 / Subtraction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8046720" y="4633722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= 0  </a:t>
            </a: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Result = A + B
</a:t>
            </a:r>
            <a:r>
              <a:rPr lang="en-US" sz="11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= 1  </a:t>
            </a:r>
            <a:r>
              <a:rPr lang="en-US" sz="110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Result = A − B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8046720" y="5548122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line sets the B-input XOR bank and the adder's carry-in together.</a:t>
            </a:r>
            <a:endParaRPr lang="en-US" sz="930" dirty="0"/>
          </a:p>
        </p:txBody>
      </p:sp>
      <p:sp>
        <p:nvSpPr>
          <p:cNvPr id="39" name="Text 3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Designs &amp; 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LOGIC BLOCKS BUILT ALONGSIDE THE CORE ALU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54335" y="6858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Shape 3"/>
          <p:cNvSpPr/>
          <p:nvPr/>
        </p:nvSpPr>
        <p:spPr>
          <a:xfrm>
            <a:off x="10618927" y="6858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3519" y="6858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7" name="Shape 5"/>
          <p:cNvSpPr/>
          <p:nvPr/>
        </p:nvSpPr>
        <p:spPr>
          <a:xfrm>
            <a:off x="10948111" y="6858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Shape 6"/>
          <p:cNvSpPr/>
          <p:nvPr/>
        </p:nvSpPr>
        <p:spPr>
          <a:xfrm>
            <a:off x="11112703" y="685800"/>
            <a:ext cx="45720" cy="45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417320"/>
            <a:ext cx="2286000" cy="5029200"/>
          </a:xfrm>
          <a:prstGeom prst="roundRect">
            <a:avLst>
              <a:gd name="adj" fmla="val 2800"/>
            </a:avLst>
          </a:prstGeom>
          <a:solidFill>
            <a:srgbClr val="132A52"/>
          </a:solidFill>
          <a:ln/>
        </p:spPr>
      </p:sp>
      <p:pic>
        <p:nvPicPr>
          <p:cNvPr id="10" name="Image 0" descr="/home/claude/work/images/img-0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527048"/>
            <a:ext cx="2066544" cy="39136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8368" y="5487363"/>
            <a:ext cx="3200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557784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Logic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" y="5852160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Bit-wise logical OR of the two register outputs.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54680" y="1417320"/>
            <a:ext cx="2286000" cy="5029200"/>
          </a:xfrm>
          <a:prstGeom prst="roundRect">
            <a:avLst>
              <a:gd name="adj" fmla="val 2800"/>
            </a:avLst>
          </a:prstGeom>
          <a:solidFill>
            <a:srgbClr val="132A52"/>
          </a:solidFill>
          <a:ln/>
        </p:spPr>
      </p:sp>
      <p:pic>
        <p:nvPicPr>
          <p:cNvPr id="15" name="Image 1" descr="/home/claude/work/images/img-051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64408" y="1527048"/>
            <a:ext cx="2066544" cy="39136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264408" y="5470439"/>
            <a:ext cx="3200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3"/>
          <p:cNvSpPr/>
          <p:nvPr/>
        </p:nvSpPr>
        <p:spPr>
          <a:xfrm>
            <a:off x="3154680" y="557768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Logic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154680" y="5852160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Bit-wise logical AND of the two register outputs.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760720" y="2199132"/>
            <a:ext cx="2286000" cy="3200400"/>
          </a:xfrm>
          <a:prstGeom prst="roundRect">
            <a:avLst>
              <a:gd name="adj" fmla="val 2800"/>
            </a:avLst>
          </a:prstGeom>
          <a:solidFill>
            <a:srgbClr val="132A52"/>
          </a:solidFill>
          <a:ln/>
        </p:spPr>
      </p:sp>
      <p:pic>
        <p:nvPicPr>
          <p:cNvPr id="20" name="Image 2" descr="/home/claude/work/images/img-052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870448" y="2308860"/>
            <a:ext cx="2066544" cy="22402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870448" y="4594860"/>
            <a:ext cx="3200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7"/>
          <p:cNvSpPr/>
          <p:nvPr/>
        </p:nvSpPr>
        <p:spPr>
          <a:xfrm>
            <a:off x="5870448" y="468630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Buzzer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870448" y="4960620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tick on every clock pulse, for demo feedback.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367065" y="2194560"/>
            <a:ext cx="3276295" cy="3200400"/>
          </a:xfrm>
          <a:prstGeom prst="roundRect">
            <a:avLst>
              <a:gd name="adj" fmla="val 2000"/>
            </a:avLst>
          </a:prstGeom>
          <a:solidFill>
            <a:srgbClr val="0E2547"/>
          </a:solidFill>
          <a:ln w="12700">
            <a:solidFill>
              <a:srgbClr val="2FB6A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568233" y="2395728"/>
            <a:ext cx="2873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568233" y="2971800"/>
            <a:ext cx="2873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50" dirty="0"/>
          </a:p>
        </p:txBody>
      </p:sp>
      <p:sp>
        <p:nvSpPr>
          <p:cNvPr id="27" name="Text 22">
            <a:hlinkClick r:id="rId6"/>
          </p:cNvPr>
          <p:cNvSpPr/>
          <p:nvPr/>
        </p:nvSpPr>
        <p:spPr>
          <a:xfrm>
            <a:off x="8568233" y="3227832"/>
            <a:ext cx="28739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eater.net/8bit/alu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8568233" y="3703320"/>
            <a:ext cx="2873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Reference</a:t>
            </a:r>
            <a:endParaRPr lang="en-US" sz="1050" dirty="0"/>
          </a:p>
        </p:txBody>
      </p:sp>
      <p:sp>
        <p:nvSpPr>
          <p:cNvPr id="29" name="Text 24">
            <a:hlinkClick r:id="rId7"/>
          </p:cNvPr>
          <p:cNvSpPr/>
          <p:nvPr/>
        </p:nvSpPr>
        <p:spPr>
          <a:xfrm>
            <a:off x="8568233" y="3959352"/>
            <a:ext cx="2873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youtu.be/CiMaWbz_6E8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568233" y="4617720"/>
            <a:ext cx="2873959" cy="0"/>
          </a:xfrm>
          <a:prstGeom prst="line">
            <a:avLst/>
          </a:prstGeom>
          <a:noFill/>
          <a:ln w="12700">
            <a:solidFill>
              <a:srgbClr val="2A406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568233" y="4754880"/>
            <a:ext cx="2873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Bit-Mechanix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568233" y="5029200"/>
            <a:ext cx="28739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Mukesh S  ·  Harikrishnan R  ·  Deshni A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698</Words>
  <Application>Microsoft Office PowerPoint</Application>
  <PresentationFormat>Widescreen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Deshni A</cp:lastModifiedBy>
  <cp:revision>2</cp:revision>
  <dcterms:created xsi:type="dcterms:W3CDTF">2026-09-23T01:08:30Z</dcterms:created>
  <dcterms:modified xsi:type="dcterms:W3CDTF">2026-09-23T02:08:20Z</dcterms:modified>
</cp:coreProperties>
</file>